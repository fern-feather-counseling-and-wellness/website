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Somatic Interventions for Talk Therapists (2 CEUs)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Learning Objectives: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- Understand the neuroscience behind somatic change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- Master core somatic skills for clinical use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- Apply somatic techniques across diagnoses</a:t>
            </a:r>
            <a:endParaRPr lang="en-US" sz="1400" dirty="0"/>
          </a:p>
        </p:txBody>
      </p:sp>
      <p:pic>
        <p:nvPicPr>
          <p:cNvPr id="4" name="Image 0" descr="https://upload.wikimedia.org/wikipedia/commons/5/55/Brain_network.svg/1200px-Brain_network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73152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Why Talk Therapy Needs the Body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Talk alone often leaves clients stuck in physiological survival states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Trauma and chronic stress are stored in the body (Van der Kolk, 2014)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Insula and ANS dysregulation drive symptoms (Paulus &amp; Stein, 2006)</a:t>
            </a:r>
            <a:endParaRPr lang="en-US" sz="1400" dirty="0"/>
          </a:p>
        </p:txBody>
      </p:sp>
      <p:pic>
        <p:nvPicPr>
          <p:cNvPr id="4" name="Image 0" descr="https://upload.wikimedia.org/wikipedia/commons/8/84/Autonomic_nervous_syste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0" y="73152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Integrated Brain Networks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Survival circuits, emotion, and executive function are integrated (Pessoa, 2017)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Key structures: Brainstem, Amygdala, Insula, PFC</a:t>
            </a:r>
            <a:endParaRPr lang="en-US" sz="1400" dirty="0"/>
          </a:p>
        </p:txBody>
      </p:sp>
      <p:pic>
        <p:nvPicPr>
          <p:cNvPr id="4" name="Image 0" descr="https://upload.wikimedia.org/wikipedia/commons/5/55/Brain_network.svg/1200px-Brain_network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73152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Autonomic Nervous System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Sympathetic: fight‑or‑flight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Parasympathetic: rest‑and‑digest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PNS includes the vagus (Porges, 2011)</a:t>
            </a:r>
            <a:endParaRPr lang="en-US" sz="1400" dirty="0"/>
          </a:p>
        </p:txBody>
      </p:sp>
      <p:pic>
        <p:nvPicPr>
          <p:cNvPr id="4" name="Image 0" descr="https://upload.wikimedia.org/wikipedia/commons/8/84/Autonomic_nervous_syste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0" y="73152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Interoception &amp; the Insula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Insula processes internal bodily signals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Altered insula activity in PTSD and anxiety (Paulus &amp; Stein, 2006)</a:t>
            </a:r>
            <a:endParaRPr lang="en-US" sz="1400" dirty="0"/>
          </a:p>
        </p:txBody>
      </p:sp>
      <p:pic>
        <p:nvPicPr>
          <p:cNvPr id="4" name="Image 0" descr="https://upload.wikimedia.org/wikipedia/commons/4/44/Insular_cort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73152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Track Autonomic Arousal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Observe breathing, heart rate, muscle tension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Use simple scales (0‑10) to rate arousal in session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Grounding Techniques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5‑5‑5 (5 senses, 5 seconds each)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Feet‑on‑earth, heavy‑object hold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Physiological rationale: re‑engage somatosensory cortex</a:t>
            </a:r>
            <a:endParaRPr lang="en-US" sz="1400" dirty="0"/>
          </a:p>
        </p:txBody>
      </p:sp>
      <p:pic>
        <p:nvPicPr>
          <p:cNvPr id="4" name="Image 0" descr="https://upload.wikimedia.org/wikipedia/commons/6/6a/Sine_wav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73152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Pendulation &amp; Titration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Move between safety and activation in controlled doses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Maintain window of tolerance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Orienting &amp; Defensive Completion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Orient: bring client into present moment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Defensive completion: finish unfinished defensive actions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Introducing Somatics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Explain rationale: body‑mind integration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Normalize the approach and set expectations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Somatic Inquiry Scripts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Ask: "What does this feel like in your body?"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Invite client to notice sensations without judgment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Link sensation to emotion or thought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Clinical Applications: Anxiety &amp; Panic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Use grounding to reduce hyperarousal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Track breath and heart rate during exposure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Introduce titration for gradual exposure</a:t>
            </a:r>
            <a:endParaRPr lang="en-US" sz="1400" dirty="0"/>
          </a:p>
        </p:txBody>
      </p:sp>
      <p:pic>
        <p:nvPicPr>
          <p:cNvPr id="4" name="Image 0" descr="https://upload.wikimedia.org/wikipedia/commons/8/84/Autonomic_nervous_syste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0" y="73152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Clinical Applications: Trauma &amp; PTSD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Pendulation to stay within window of tolerance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Somatic inquiry to process stored trauma sensations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Defensive completion for unresolved defensive actions</a:t>
            </a:r>
            <a:endParaRPr lang="en-US" sz="1400" dirty="0"/>
          </a:p>
        </p:txBody>
      </p:sp>
      <p:pic>
        <p:nvPicPr>
          <p:cNvPr id="4" name="Image 0" descr="https://upload.wikimedia.org/wikipedia/commons/5/55/Brain_network.svg/1200px-Brain_network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731520"/>
            <a:ext cx="32004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Clinical Applications: Depression &amp; Shutdown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Gentle grounding to re‑engage body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Interoceptive awareness to notice numbing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Use movement to counteract inactivity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Scope of Practice &amp; Ethics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Stay within therapist licensure limits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When to refer to somatic specialists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Document somatic interventions in notes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Documentation &amp; Progress Notes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Record bodily sensations observed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Note client’s self‑report of interoceptive experience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Link to treatment goals and outcomes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When to Refer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Client shows signs of dissociation or unsafe trauma material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Complex somatic issues beyond therapist training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Need for specialized body‑based therapy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Resources &amp; Further Training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Somatic Experiencing (Peter Levine)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Sensorimotor Psychotherapy (Pat Ogden)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Trauma‑Informed Yoga certifications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References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Van der Kolk, B. (2014). The Body Keeps the Score.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LeDoux, J. (2015). The Emotional Brain.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Porges, S. (2011). Polyvagal Theory.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Grossman, T. et al. (2026). Polyvagal controversy review.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2026-04-26T01:06:13Z</dcterms:created>
  <dcterms:modified xsi:type="dcterms:W3CDTF">2026-04-26T01:06:13Z</dcterms:modified>
</cp:coreProperties>
</file>